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N\Desktop\dashboar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[dashboard.xlsx]Sheet10!PivotTable8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1" u="none" strike="noStrike" kern="1200" spc="0" baseline="0">
                <a:solidFill>
                  <a:srgbClr val="DD0000"/>
                </a:solidFill>
                <a:latin typeface="+mn-lt"/>
                <a:ea typeface="+mn-ea"/>
                <a:cs typeface="+mn-cs"/>
              </a:defRPr>
            </a:pPr>
            <a:r>
              <a:rPr lang="en-US" b="1" i="1">
                <a:solidFill>
                  <a:srgbClr val="DD0000"/>
                </a:solidFill>
              </a:rPr>
              <a:t>Churn</a:t>
            </a:r>
            <a:r>
              <a:rPr lang="en-US" b="1" i="1" baseline="0">
                <a:solidFill>
                  <a:srgbClr val="DD0000"/>
                </a:solidFill>
              </a:rPr>
              <a:t> Rate is 51%</a:t>
            </a:r>
            <a:endParaRPr lang="en-US" b="1" i="1">
              <a:solidFill>
                <a:srgbClr val="DD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1" u="none" strike="noStrike" kern="1200" spc="0" baseline="0">
              <a:solidFill>
                <a:srgbClr val="DD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shade val="7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>
              <a:tint val="77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Sheet10!$B$3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5C-4130-AE27-2FD07CA16A48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5C-4130-AE27-2FD07CA16A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Sheet10!$A$4:$A$6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Sheet10!$B$4:$B$6</c:f>
              <c:numCache>
                <c:formatCode>0%</c:formatCode>
                <c:ptCount val="2"/>
                <c:pt idx="0">
                  <c:v>0.49</c:v>
                </c:pt>
                <c:pt idx="1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5C-4130-AE27-2FD07CA16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[dashboard.xlsx]Sheet3!PivotTable1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</a:rPr>
              <a:t>AgeGroup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Sheet3!$A$4:$A$8</c:f>
              <c:strCache>
                <c:ptCount val="4"/>
                <c:pt idx="0">
                  <c:v>Below 30</c:v>
                </c:pt>
                <c:pt idx="1">
                  <c:v>30-39</c:v>
                </c:pt>
                <c:pt idx="2">
                  <c:v>40-49</c:v>
                </c:pt>
                <c:pt idx="3">
                  <c:v>Above 50</c:v>
                </c:pt>
              </c:strCache>
            </c:strRef>
          </c:cat>
          <c:val>
            <c:numRef>
              <c:f>Sheet3!$B$4:$B$8</c:f>
              <c:numCache>
                <c:formatCode>General</c:formatCode>
                <c:ptCount val="4"/>
                <c:pt idx="0">
                  <c:v>37</c:v>
                </c:pt>
                <c:pt idx="1">
                  <c:v>30</c:v>
                </c:pt>
                <c:pt idx="2">
                  <c:v>114</c:v>
                </c:pt>
                <c:pt idx="3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2C-4253-90EF-C48B58D134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43574264"/>
        <c:axId val="543585424"/>
        <c:axId val="0"/>
      </c:bar3DChart>
      <c:catAx>
        <c:axId val="543574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3585424"/>
        <c:crosses val="autoZero"/>
        <c:auto val="1"/>
        <c:lblAlgn val="ctr"/>
        <c:lblOffset val="100"/>
        <c:noMultiLvlLbl val="0"/>
      </c:catAx>
      <c:valAx>
        <c:axId val="54358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43574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[dashboard.xlsx]Sheet4!PivotTable2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E6-4438-941C-3A6F00C134C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E6-4438-941C-3A6F00C134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Sheet4!$A$4:$A$6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Sheet4!$B$4:$B$6</c:f>
              <c:numCache>
                <c:formatCode>General</c:formatCode>
                <c:ptCount val="2"/>
                <c:pt idx="0">
                  <c:v>113</c:v>
                </c:pt>
                <c:pt idx="1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E6-4438-941C-3A6F00C13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[dashboard.xlsx]Sheet6!PivotTable4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Usage Frequency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</c:pivotFmt>
      <c:pivotFmt>
        <c:idx val="4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</c:pivotFmt>
      <c:pivotFmt>
        <c:idx val="6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1A-40D8-B2FC-DE89DF409E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Sheet6!$A$4:$A$7</c:f>
              <c:strCache>
                <c:ptCount val="3"/>
                <c:pt idx="0">
                  <c:v>upto 10</c:v>
                </c:pt>
                <c:pt idx="1">
                  <c:v>10to20</c:v>
                </c:pt>
                <c:pt idx="2">
                  <c:v>20to30</c:v>
                </c:pt>
              </c:strCache>
            </c:strRef>
          </c:cat>
          <c:val>
            <c:numRef>
              <c:f>Sheet6!$B$4:$B$7</c:f>
              <c:numCache>
                <c:formatCode>General</c:formatCode>
                <c:ptCount val="3"/>
                <c:pt idx="0">
                  <c:v>45</c:v>
                </c:pt>
                <c:pt idx="1">
                  <c:v>143</c:v>
                </c:pt>
                <c:pt idx="2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1A-40D8-B2FC-DE89DF409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4235000"/>
        <c:axId val="534235360"/>
      </c:lineChart>
      <c:catAx>
        <c:axId val="534235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235360"/>
        <c:crosses val="autoZero"/>
        <c:auto val="1"/>
        <c:lblAlgn val="ctr"/>
        <c:lblOffset val="100"/>
        <c:noMultiLvlLbl val="0"/>
      </c:catAx>
      <c:valAx>
        <c:axId val="5342353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34235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[dashboard.xlsx]Sheet7!PivotTable5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Subscription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>
              <a:shade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4">
              <a:tint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>
              <a:shade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4">
              <a:tint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>
              <a:shade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4">
              <a:tint val="6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Sheet7!$B$3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F9F-40D2-B52E-ACEE31316AB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F9F-40D2-B52E-ACEE31316AB8}"/>
              </c:ext>
            </c:extLst>
          </c:dPt>
          <c:dPt>
            <c:idx val="2"/>
            <c:bubble3D val="0"/>
            <c:spPr>
              <a:solidFill>
                <a:schemeClr val="accent4">
                  <a:tint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F9F-40D2-B52E-ACEE31316A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Sheet7!$A$4:$A$7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Sheet7!$B$4:$B$7</c:f>
              <c:numCache>
                <c:formatCode>General</c:formatCode>
                <c:ptCount val="3"/>
                <c:pt idx="0">
                  <c:v>76</c:v>
                </c:pt>
                <c:pt idx="1">
                  <c:v>78</c:v>
                </c:pt>
                <c:pt idx="2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9F-40D2-B52E-ACEE31316A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[dashboard.xlsx]Sheet11!PivotTable2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</a:rPr>
              <a:t>Tenure</a:t>
            </a:r>
            <a:r>
              <a:rPr lang="en-US" b="1" baseline="0">
                <a:solidFill>
                  <a:srgbClr val="FF0000"/>
                </a:solidFill>
              </a:rPr>
              <a:t> Status</a:t>
            </a:r>
            <a:endParaRPr lang="en-US" b="1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Sheet11!$A$4:$A$9</c:f>
              <c:strCache>
                <c:ptCount val="5"/>
                <c:pt idx="0">
                  <c:v>upto 20</c:v>
                </c:pt>
                <c:pt idx="1">
                  <c:v>21-30</c:v>
                </c:pt>
                <c:pt idx="2">
                  <c:v>31-40</c:v>
                </c:pt>
                <c:pt idx="3">
                  <c:v>41-50</c:v>
                </c:pt>
                <c:pt idx="4">
                  <c:v>Above 50</c:v>
                </c:pt>
              </c:strCache>
            </c:strRef>
          </c:cat>
          <c:val>
            <c:numRef>
              <c:f>Sheet11!$B$4:$B$9</c:f>
              <c:numCache>
                <c:formatCode>General</c:formatCode>
                <c:ptCount val="5"/>
                <c:pt idx="0">
                  <c:v>85</c:v>
                </c:pt>
                <c:pt idx="1">
                  <c:v>40</c:v>
                </c:pt>
                <c:pt idx="2">
                  <c:v>46</c:v>
                </c:pt>
                <c:pt idx="3">
                  <c:v>44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A8-4326-8F5B-DABED5A27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4524576"/>
        <c:axId val="534525656"/>
      </c:barChart>
      <c:catAx>
        <c:axId val="53452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525656"/>
        <c:crosses val="autoZero"/>
        <c:auto val="1"/>
        <c:lblAlgn val="ctr"/>
        <c:lblOffset val="100"/>
        <c:noMultiLvlLbl val="0"/>
      </c:catAx>
      <c:valAx>
        <c:axId val="5345256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3452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[dashboard.xlsx]Sheet8!PivotTable6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Contract Length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Sheet8!$B$3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E0-47D1-80CF-C31BCAB8997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E0-47D1-80CF-C31BCAB8997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FE0-47D1-80CF-C31BCAB899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Sheet8!$A$4:$A$7</c:f>
              <c:strCache>
                <c:ptCount val="3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</c:strCache>
            </c:strRef>
          </c:cat>
          <c:val>
            <c:numRef>
              <c:f>Sheet8!$B$4:$B$7</c:f>
              <c:numCache>
                <c:formatCode>General</c:formatCode>
                <c:ptCount val="3"/>
                <c:pt idx="0">
                  <c:v>72</c:v>
                </c:pt>
                <c:pt idx="1">
                  <c:v>91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E0-47D1-80CF-C31BCAB89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[dashboard.xlsx]Sheet13!PivotTable4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F0000"/>
                </a:solidFill>
              </a:rPr>
              <a:t>Payment</a:t>
            </a:r>
            <a:r>
              <a:rPr lang="en-US" baseline="0" dirty="0">
                <a:solidFill>
                  <a:srgbClr val="FF0000"/>
                </a:solidFill>
              </a:rPr>
              <a:t> Delay</a:t>
            </a:r>
            <a:endParaRPr lang="en-US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Sheet13!$B$3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55-446E-ABBB-D3B3287B51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55-446E-ABBB-D3B3287B516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55-446E-ABBB-D3B3287B51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Sheet13!$A$4:$A$7</c:f>
              <c:strCache>
                <c:ptCount val="3"/>
                <c:pt idx="0">
                  <c:v>Below 10</c:v>
                </c:pt>
                <c:pt idx="1">
                  <c:v>&lt;20</c:v>
                </c:pt>
                <c:pt idx="2">
                  <c:v>&lt;30</c:v>
                </c:pt>
              </c:strCache>
            </c:strRef>
          </c:cat>
          <c:val>
            <c:numRef>
              <c:f>Sheet13!$B$4:$B$7</c:f>
              <c:numCache>
                <c:formatCode>General</c:formatCode>
                <c:ptCount val="3"/>
                <c:pt idx="0">
                  <c:v>57</c:v>
                </c:pt>
                <c:pt idx="1">
                  <c:v>132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55-446E-ABBB-D3B3287B51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[dashboard.xlsx]Sheet9!PivotTable7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Total Spending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Sheet9!$A$4:$A$8</c:f>
              <c:strCache>
                <c:ptCount val="4"/>
                <c:pt idx="0">
                  <c:v>100-300</c:v>
                </c:pt>
                <c:pt idx="1">
                  <c:v>300-600</c:v>
                </c:pt>
                <c:pt idx="2">
                  <c:v>600-900</c:v>
                </c:pt>
                <c:pt idx="3">
                  <c:v>above 900</c:v>
                </c:pt>
              </c:strCache>
            </c:strRef>
          </c:cat>
          <c:val>
            <c:numRef>
              <c:f>Sheet9!$B$4:$B$8</c:f>
              <c:numCache>
                <c:formatCode>General</c:formatCode>
                <c:ptCount val="4"/>
                <c:pt idx="0">
                  <c:v>57</c:v>
                </c:pt>
                <c:pt idx="1">
                  <c:v>71</c:v>
                </c:pt>
                <c:pt idx="2">
                  <c:v>101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3E-4F6C-9CDD-CF71A330B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97471048"/>
        <c:axId val="408353976"/>
      </c:barChart>
      <c:catAx>
        <c:axId val="39747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8353976"/>
        <c:crosses val="autoZero"/>
        <c:auto val="1"/>
        <c:lblAlgn val="ctr"/>
        <c:lblOffset val="100"/>
        <c:noMultiLvlLbl val="0"/>
      </c:catAx>
      <c:valAx>
        <c:axId val="4083539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97471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[dashboard.xlsx]Sheet14!PivotTable1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FF0000"/>
                </a:solidFill>
              </a:rPr>
              <a:t>Support</a:t>
            </a:r>
            <a:r>
              <a:rPr lang="en-US" sz="1400" b="1" baseline="0" dirty="0">
                <a:solidFill>
                  <a:srgbClr val="FF0000"/>
                </a:solidFill>
              </a:rPr>
              <a:t> Calls</a:t>
            </a:r>
            <a:endParaRPr lang="en-US" sz="1400" b="1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Sheet14!$B$3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Sheet14!$A$4:$A$8</c:f>
              <c:strCache>
                <c:ptCount val="4"/>
                <c:pt idx="0">
                  <c:v>2 calls</c:v>
                </c:pt>
                <c:pt idx="1">
                  <c:v>5 calls</c:v>
                </c:pt>
                <c:pt idx="2">
                  <c:v>Above 5</c:v>
                </c:pt>
                <c:pt idx="3">
                  <c:v>No calls</c:v>
                </c:pt>
              </c:strCache>
            </c:strRef>
          </c:cat>
          <c:val>
            <c:numRef>
              <c:f>Sheet14!$B$4:$B$8</c:f>
              <c:numCache>
                <c:formatCode>General</c:formatCode>
                <c:ptCount val="4"/>
                <c:pt idx="0">
                  <c:v>32</c:v>
                </c:pt>
                <c:pt idx="1">
                  <c:v>132</c:v>
                </c:pt>
                <c:pt idx="2">
                  <c:v>76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E5-4312-B8BD-71A42CCD7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0485448"/>
        <c:axId val="570484008"/>
      </c:lineChart>
      <c:catAx>
        <c:axId val="57048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0484008"/>
        <c:crosses val="autoZero"/>
        <c:auto val="1"/>
        <c:lblAlgn val="ctr"/>
        <c:lblOffset val="100"/>
        <c:noMultiLvlLbl val="0"/>
      </c:catAx>
      <c:valAx>
        <c:axId val="57048400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0485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7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2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4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6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8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8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7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7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1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82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42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71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9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89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9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1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F1300D2-3908-4BA3-B113-644F0D41B3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2E87FB8-FEC3-41A3-A9BE-4C812C4C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11" Type="http://schemas.openxmlformats.org/officeDocument/2006/relationships/chart" Target="../charts/chart10.xml"/><Relationship Id="rId5" Type="http://schemas.openxmlformats.org/officeDocument/2006/relationships/chart" Target="../charts/chart4.xml"/><Relationship Id="rId10" Type="http://schemas.openxmlformats.org/officeDocument/2006/relationships/chart" Target="../charts/chart9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438AD0-00B5-D7C4-B553-C581F7BE1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8480"/>
            <a:ext cx="9144000" cy="471932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Prediction</a:t>
            </a:r>
          </a:p>
          <a:p>
            <a:r>
              <a:rPr lang="en-US" sz="6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Full Project Documentation</a:t>
            </a:r>
          </a:p>
          <a:p>
            <a:pPr algn="l"/>
            <a:endParaRPr lang="en-US" sz="1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16DF5-76C8-F736-550F-900B5655052F}"/>
              </a:ext>
            </a:extLst>
          </p:cNvPr>
          <p:cNvSpPr/>
          <p:nvPr/>
        </p:nvSpPr>
        <p:spPr>
          <a:xfrm>
            <a:off x="1737360" y="4328160"/>
            <a:ext cx="2428240" cy="13817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500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</a:rPr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D4E998-2487-33E2-8C02-CAC55B2C8B4E}"/>
              </a:ext>
            </a:extLst>
          </p:cNvPr>
          <p:cNvSpPr/>
          <p:nvPr/>
        </p:nvSpPr>
        <p:spPr>
          <a:xfrm>
            <a:off x="4541521" y="4328160"/>
            <a:ext cx="2428240" cy="13817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30%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</a:rPr>
              <a:t>Dirty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A3167-45B3-45EE-DD57-6D31C3006F46}"/>
              </a:ext>
            </a:extLst>
          </p:cNvPr>
          <p:cNvSpPr/>
          <p:nvPr/>
        </p:nvSpPr>
        <p:spPr>
          <a:xfrm>
            <a:off x="7345682" y="4328160"/>
            <a:ext cx="2428240" cy="13817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B0F0"/>
                </a:solidFill>
              </a:rPr>
              <a:t>1</a:t>
            </a:r>
            <a:r>
              <a:rPr lang="en-US" sz="3200" dirty="0">
                <a:solidFill>
                  <a:srgbClr val="00B0F0"/>
                </a:solidFill>
              </a:rPr>
              <a:t>0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</a:rPr>
              <a:t>Chart Types</a:t>
            </a:r>
          </a:p>
        </p:txBody>
      </p:sp>
    </p:spTree>
    <p:extLst>
      <p:ext uri="{BB962C8B-B14F-4D97-AF65-F5344CB8AC3E}">
        <p14:creationId xmlns:p14="http://schemas.microsoft.com/office/powerpoint/2010/main" val="167321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7B4D-B4C6-C711-DD89-C253C098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968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7DF86-63F6-D786-6F34-AD88D1BF3DE6}"/>
              </a:ext>
            </a:extLst>
          </p:cNvPr>
          <p:cNvSpPr/>
          <p:nvPr/>
        </p:nvSpPr>
        <p:spPr>
          <a:xfrm>
            <a:off x="646111" y="1706880"/>
            <a:ext cx="2361249" cy="443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Generation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500 Customers created with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(seed 42)</a:t>
            </a: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across 12 columns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3E0307-19B8-1DF8-B54E-AA00F65351B1}"/>
              </a:ext>
            </a:extLst>
          </p:cNvPr>
          <p:cNvSpPr/>
          <p:nvPr/>
        </p:nvSpPr>
        <p:spPr>
          <a:xfrm>
            <a:off x="1341120" y="2052320"/>
            <a:ext cx="965200" cy="7010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663F0-F321-9E6A-227F-F7E2E46F1324}"/>
              </a:ext>
            </a:extLst>
          </p:cNvPr>
          <p:cNvSpPr/>
          <p:nvPr/>
        </p:nvSpPr>
        <p:spPr>
          <a:xfrm>
            <a:off x="3529649" y="1706880"/>
            <a:ext cx="2361249" cy="443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Injecting Dirty Data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 dirty data cells added:</a:t>
            </a: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Nulls, Outliers, Duplicate values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A10EA2-BCD8-A376-E8CB-C52CFBCF2D02}"/>
              </a:ext>
            </a:extLst>
          </p:cNvPr>
          <p:cNvSpPr/>
          <p:nvPr/>
        </p:nvSpPr>
        <p:spPr>
          <a:xfrm>
            <a:off x="4258153" y="2052320"/>
            <a:ext cx="904240" cy="7010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5CAEF-1E5B-2C48-9381-7CDAD22BB162}"/>
              </a:ext>
            </a:extLst>
          </p:cNvPr>
          <p:cNvSpPr/>
          <p:nvPr/>
        </p:nvSpPr>
        <p:spPr>
          <a:xfrm>
            <a:off x="6413187" y="1706880"/>
            <a:ext cx="2361249" cy="443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cleaning with python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32D1E0-08A8-8D97-EA4E-62A3BA2DA77E}"/>
              </a:ext>
            </a:extLst>
          </p:cNvPr>
          <p:cNvSpPr/>
          <p:nvPr/>
        </p:nvSpPr>
        <p:spPr>
          <a:xfrm>
            <a:off x="7136611" y="2052320"/>
            <a:ext cx="914400" cy="7010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1FE028-AEF3-93E9-68BF-3BC5BC9BD833}"/>
              </a:ext>
            </a:extLst>
          </p:cNvPr>
          <p:cNvSpPr/>
          <p:nvPr/>
        </p:nvSpPr>
        <p:spPr>
          <a:xfrm>
            <a:off x="9296725" y="1706880"/>
            <a:ext cx="2361249" cy="443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Charts using MS Excel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92136E-172E-ECAC-3377-224CF15EC88E}"/>
              </a:ext>
            </a:extLst>
          </p:cNvPr>
          <p:cNvSpPr/>
          <p:nvPr/>
        </p:nvSpPr>
        <p:spPr>
          <a:xfrm>
            <a:off x="10020149" y="2052320"/>
            <a:ext cx="914400" cy="701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579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8CCD5-D254-B464-D388-42DA0909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642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1 Data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57C08-78C6-BB55-D8D9-B0BDEA7A6C07}"/>
              </a:ext>
            </a:extLst>
          </p:cNvPr>
          <p:cNvSpPr txBox="1"/>
          <p:nvPr/>
        </p:nvSpPr>
        <p:spPr>
          <a:xfrm>
            <a:off x="709664" y="1376158"/>
            <a:ext cx="7296415" cy="469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np.random.seed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(42)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endParaRPr lang="en-US" sz="1800" kern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n=500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= ({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CustomerID':range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(1, 501),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'Age': 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(22, 65,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'Gender':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np.random.choice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(['Male', 'Female'],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'Tenure':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(2, 60,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'Usage Frequency':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(3, 30,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'Support Calls':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 10,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'Payment Delay':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(2, 30,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'Subscription Type':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np.random.choice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(['Basic', 'Standard', 'Premium'],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'Contract Length':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np.random.choice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(['Monthly', 'Quarterly', 'Annual'],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'Total Spend':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(100, 1000,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'Last Interaction':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(1, 30,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'Churn':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np.random.choice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(['Yes', 'No'], n),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spcAft>
                <a:spcPts val="800"/>
              </a:spcAft>
              <a:buClr>
                <a:srgbClr val="C586C0"/>
              </a:buClr>
              <a:buFont typeface="+mj-lt"/>
              <a:buAutoNum type="arabicPeriod"/>
            </a:pPr>
            <a:endParaRPr lang="en-US" sz="1800" kern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425"/>
              </a:lnSpc>
              <a:spcAft>
                <a:spcPts val="800"/>
              </a:spcAft>
              <a:buClr>
                <a:srgbClr val="C586C0"/>
              </a:buClr>
              <a:buFont typeface="+mj-lt"/>
              <a:buAutoNum type="arabicPeriod"/>
            </a:pP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df_clean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F6D57ED-69F8-58B0-D64A-1A691B611E4A}"/>
              </a:ext>
            </a:extLst>
          </p:cNvPr>
          <p:cNvSpPr/>
          <p:nvPr/>
        </p:nvSpPr>
        <p:spPr>
          <a:xfrm>
            <a:off x="8354114" y="952239"/>
            <a:ext cx="3393440" cy="423919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CustomerID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1-500 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2B4E556A-2108-6C9C-A7F3-56DF1229C374}"/>
              </a:ext>
            </a:extLst>
          </p:cNvPr>
          <p:cNvSpPr/>
          <p:nvPr/>
        </p:nvSpPr>
        <p:spPr>
          <a:xfrm>
            <a:off x="8365571" y="1568376"/>
            <a:ext cx="3370526" cy="423920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Age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22-65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9F2972F7-BE4C-8FF3-751B-F38579DD8FFA}"/>
              </a:ext>
            </a:extLst>
          </p:cNvPr>
          <p:cNvSpPr/>
          <p:nvPr/>
        </p:nvSpPr>
        <p:spPr>
          <a:xfrm>
            <a:off x="8387296" y="2159691"/>
            <a:ext cx="3370526" cy="420893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Male/Female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E5F4B103-821C-EF3E-E8D3-B34E61D1A74C}"/>
              </a:ext>
            </a:extLst>
          </p:cNvPr>
          <p:cNvSpPr/>
          <p:nvPr/>
        </p:nvSpPr>
        <p:spPr>
          <a:xfrm>
            <a:off x="8387296" y="2782965"/>
            <a:ext cx="3393440" cy="420893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Tenure 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22-65</a:t>
            </a: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F56C21B0-347C-1950-06D3-FDAF2E9BBC32}"/>
              </a:ext>
            </a:extLst>
          </p:cNvPr>
          <p:cNvSpPr/>
          <p:nvPr/>
        </p:nvSpPr>
        <p:spPr>
          <a:xfrm>
            <a:off x="8453228" y="3388582"/>
            <a:ext cx="3327508" cy="420893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Usage Frequency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2-60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71383EF2-37EC-DE92-FF62-BE5A14FC1DC5}"/>
              </a:ext>
            </a:extLst>
          </p:cNvPr>
          <p:cNvSpPr/>
          <p:nvPr/>
        </p:nvSpPr>
        <p:spPr>
          <a:xfrm>
            <a:off x="8524348" y="4001867"/>
            <a:ext cx="3327508" cy="420894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Support Calls  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0-10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B6D894BD-1F05-F49F-D6DF-41C1ADFED892}"/>
              </a:ext>
            </a:extLst>
          </p:cNvPr>
          <p:cNvSpPr/>
          <p:nvPr/>
        </p:nvSpPr>
        <p:spPr>
          <a:xfrm>
            <a:off x="8559908" y="4655258"/>
            <a:ext cx="3291948" cy="420894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Payment Delay         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2-30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AA7D4A62-EB27-F026-0834-4A02CEA257E1}"/>
              </a:ext>
            </a:extLst>
          </p:cNvPr>
          <p:cNvSpPr/>
          <p:nvPr/>
        </p:nvSpPr>
        <p:spPr>
          <a:xfrm>
            <a:off x="8559908" y="5308650"/>
            <a:ext cx="3291948" cy="420894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Subscription Type     </a:t>
            </a:r>
            <a:r>
              <a:rPr lang="en-US" sz="1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asic/Premium/Standard 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67CCC83A-7DDD-1C58-4A92-4C1B80DCF2F8}"/>
              </a:ext>
            </a:extLst>
          </p:cNvPr>
          <p:cNvSpPr/>
          <p:nvPr/>
        </p:nvSpPr>
        <p:spPr>
          <a:xfrm>
            <a:off x="8559908" y="5905762"/>
            <a:ext cx="3291948" cy="420894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Contract Length   </a:t>
            </a:r>
            <a:r>
              <a:rPr lang="en-US" sz="1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onthly/Quarterly/Annual</a:t>
            </a:r>
          </a:p>
        </p:txBody>
      </p:sp>
    </p:spTree>
    <p:extLst>
      <p:ext uri="{BB962C8B-B14F-4D97-AF65-F5344CB8AC3E}">
        <p14:creationId xmlns:p14="http://schemas.microsoft.com/office/powerpoint/2010/main" val="157901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F41A-5315-8FD6-8AF6-5A7982C3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7602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2 Injecting Dirty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3E407-C205-842D-09A2-BF3E6F48560D}"/>
              </a:ext>
            </a:extLst>
          </p:cNvPr>
          <p:cNvSpPr/>
          <p:nvPr/>
        </p:nvSpPr>
        <p:spPr>
          <a:xfrm>
            <a:off x="843280" y="168656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25%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Missing Values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Age, Usage Frequency, Support Calls, Payment Delay, Last Interaction set to None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85F8EB-AD54-7079-C61D-529D9D9C9688}"/>
              </a:ext>
            </a:extLst>
          </p:cNvPr>
          <p:cNvSpPr/>
          <p:nvPr/>
        </p:nvSpPr>
        <p:spPr>
          <a:xfrm>
            <a:off x="4521200" y="168656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10%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Gender Wise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M, m, Fem, F, 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17711-5C0F-2055-5BAD-2326D71576EA}"/>
              </a:ext>
            </a:extLst>
          </p:cNvPr>
          <p:cNvSpPr/>
          <p:nvPr/>
        </p:nvSpPr>
        <p:spPr>
          <a:xfrm>
            <a:off x="8128000" y="168656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3%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Negative Tenure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Period made negative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27777-4CC7-0872-D53C-6349F910C9B5}"/>
              </a:ext>
            </a:extLst>
          </p:cNvPr>
          <p:cNvSpPr/>
          <p:nvPr/>
        </p:nvSpPr>
        <p:spPr>
          <a:xfrm>
            <a:off x="843280" y="410464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4%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Subscription Type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BASIC, standard, Prem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101108-165F-9AF8-DC95-F644345859BB}"/>
              </a:ext>
            </a:extLst>
          </p:cNvPr>
          <p:cNvSpPr/>
          <p:nvPr/>
        </p:nvSpPr>
        <p:spPr>
          <a:xfrm>
            <a:off x="4521200" y="410464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10%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Boolean as Y/N</a:t>
            </a:r>
          </a:p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Churn</a:t>
            </a:r>
            <a:r>
              <a:rPr lang="en-US" sz="1600" dirty="0" err="1"/>
              <a:t>→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/N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CF3008-F61B-E8AA-4463-AF3873CBE6FC}"/>
              </a:ext>
            </a:extLst>
          </p:cNvPr>
          <p:cNvSpPr/>
          <p:nvPr/>
        </p:nvSpPr>
        <p:spPr>
          <a:xfrm>
            <a:off x="8128000" y="4104640"/>
            <a:ext cx="2997200" cy="1742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5%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Total Spend Outliers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Set to 100-1000</a:t>
            </a:r>
          </a:p>
        </p:txBody>
      </p:sp>
    </p:spTree>
    <p:extLst>
      <p:ext uri="{BB962C8B-B14F-4D97-AF65-F5344CB8AC3E}">
        <p14:creationId xmlns:p14="http://schemas.microsoft.com/office/powerpoint/2010/main" val="2611149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E5F1-B06E-2E8A-825A-3EC5EECB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5842"/>
          </a:xfrm>
        </p:spPr>
        <p:txBody>
          <a:bodyPr>
            <a:normAutofit fontScale="90000"/>
          </a:bodyPr>
          <a:lstStyle/>
          <a:p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3 Data cleaning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10FC3-15C0-7FC3-AE2F-196498E8060E}"/>
              </a:ext>
            </a:extLst>
          </p:cNvPr>
          <p:cNvSpPr txBox="1"/>
          <p:nvPr/>
        </p:nvSpPr>
        <p:spPr>
          <a:xfrm>
            <a:off x="477520" y="2630179"/>
            <a:ext cx="6380480" cy="1877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r"Desktop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/customerchurn_dirty.csv")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BBBEB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C4591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#Remove duplicate rows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print("After dropping duplicates:\n", </a:t>
            </a:r>
            <a:r>
              <a:rPr lang="en-US" sz="1800" kern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800" kern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"\n")</a:t>
            </a:r>
            <a:endParaRPr lang="en-US" sz="24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68AC2-5E2C-5010-740B-690BB3FC7F07}"/>
              </a:ext>
            </a:extLst>
          </p:cNvPr>
          <p:cNvSpPr txBox="1"/>
          <p:nvPr/>
        </p:nvSpPr>
        <p:spPr>
          <a:xfrm>
            <a:off x="457200" y="4824888"/>
            <a:ext cx="6096000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['Churn'] = </a:t>
            </a: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['Churn'].replace({'Y': 'Yes', 'N': 'No'})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C99E5-1994-8F99-AC47-B64D5C09B4B6}"/>
              </a:ext>
            </a:extLst>
          </p:cNvPr>
          <p:cNvSpPr txBox="1"/>
          <p:nvPr/>
        </p:nvSpPr>
        <p:spPr>
          <a:xfrm>
            <a:off x="457200" y="5285789"/>
            <a:ext cx="6096000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['Age'] = </a:t>
            </a: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['Age'].</a:t>
            </a: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fillna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8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['Age'].mean())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80423-E136-6C7B-4832-A27FE8E796B6}"/>
              </a:ext>
            </a:extLst>
          </p:cNvPr>
          <p:cNvSpPr txBox="1"/>
          <p:nvPr/>
        </p:nvSpPr>
        <p:spPr>
          <a:xfrm>
            <a:off x="670560" y="5746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IQR Outlier Removal (Total Spend)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8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9143-F35A-95A6-0222-37D6CF09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24242"/>
          </a:xfrm>
        </p:spPr>
        <p:txBody>
          <a:bodyPr>
            <a:normAutofit fontScale="90000"/>
          </a:bodyPr>
          <a:lstStyle/>
          <a:p>
            <a:b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Types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F6B68F-83DE-4499-0F4A-39DBF91F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32204"/>
              </p:ext>
            </p:extLst>
          </p:nvPr>
        </p:nvGraphicFramePr>
        <p:xfrm>
          <a:off x="762000" y="1390226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963750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187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6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389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848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462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Tenure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562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Usage Frequency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148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Calls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392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Payment Delay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490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Subscription Type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049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Contract Length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1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Spend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648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Last Interaction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464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087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42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E8CE-99CE-14F3-4214-78D7069B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4: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3887E-7B6D-85DC-F9DD-383A8E869C1F}"/>
              </a:ext>
            </a:extLst>
          </p:cNvPr>
          <p:cNvSpPr/>
          <p:nvPr/>
        </p:nvSpPr>
        <p:spPr>
          <a:xfrm>
            <a:off x="830526" y="1772920"/>
            <a:ext cx="2621280" cy="165608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DD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500</a:t>
            </a:r>
          </a:p>
          <a:p>
            <a:pPr algn="ctr"/>
            <a:r>
              <a:rPr lang="en-US" dirty="0">
                <a:solidFill>
                  <a:srgbClr val="DD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Customers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856CE-2CD9-B1D2-47BD-761FB695646A}"/>
              </a:ext>
            </a:extLst>
          </p:cNvPr>
          <p:cNvSpPr/>
          <p:nvPr/>
        </p:nvSpPr>
        <p:spPr>
          <a:xfrm>
            <a:off x="7429554" y="1772920"/>
            <a:ext cx="2621280" cy="16560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51%</a:t>
            </a:r>
          </a:p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Churn Rate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079463-2C95-74B4-2C1A-DE5B9161A5A3}"/>
              </a:ext>
            </a:extLst>
          </p:cNvPr>
          <p:cNvSpPr/>
          <p:nvPr/>
        </p:nvSpPr>
        <p:spPr>
          <a:xfrm>
            <a:off x="4130040" y="1772920"/>
            <a:ext cx="2621280" cy="16560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DD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255</a:t>
            </a:r>
          </a:p>
          <a:p>
            <a:pPr algn="ctr"/>
            <a:r>
              <a:rPr lang="en-US" dirty="0">
                <a:solidFill>
                  <a:srgbClr val="DD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Churned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8E316-8380-D720-A18F-120F41FCC5D7}"/>
              </a:ext>
            </a:extLst>
          </p:cNvPr>
          <p:cNvSpPr/>
          <p:nvPr/>
        </p:nvSpPr>
        <p:spPr>
          <a:xfrm>
            <a:off x="2795297" y="4368800"/>
            <a:ext cx="2621280" cy="1656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142</a:t>
            </a:r>
          </a:p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Male Churn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7C4916-9DF0-7684-8DDE-D097514A10A3}"/>
              </a:ext>
            </a:extLst>
          </p:cNvPr>
          <p:cNvSpPr/>
          <p:nvPr/>
        </p:nvSpPr>
        <p:spPr>
          <a:xfrm>
            <a:off x="6280177" y="4368800"/>
            <a:ext cx="2621280" cy="1656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113</a:t>
            </a:r>
          </a:p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Female Churn</a:t>
            </a:r>
          </a:p>
        </p:txBody>
      </p:sp>
    </p:spTree>
    <p:extLst>
      <p:ext uri="{BB962C8B-B14F-4D97-AF65-F5344CB8AC3E}">
        <p14:creationId xmlns:p14="http://schemas.microsoft.com/office/powerpoint/2010/main" val="208492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02C1-F334-B30B-4A8A-FC37953F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Charts used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EE17A-48C2-49ED-64B1-8EC5A8F29EC4}"/>
              </a:ext>
            </a:extLst>
          </p:cNvPr>
          <p:cNvSpPr/>
          <p:nvPr/>
        </p:nvSpPr>
        <p:spPr>
          <a:xfrm>
            <a:off x="741680" y="1696720"/>
            <a:ext cx="3525520" cy="1732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Bar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Age Group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Age within 40-49 (114)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7330F-65FA-D6A1-8EEE-D5FA82087307}"/>
              </a:ext>
            </a:extLst>
          </p:cNvPr>
          <p:cNvSpPr/>
          <p:nvPr/>
        </p:nvSpPr>
        <p:spPr>
          <a:xfrm>
            <a:off x="4399282" y="1696720"/>
            <a:ext cx="3525520" cy="1732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Line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Usage Frequency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10-20 Yearly (143)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BD577-3D8C-BD59-4761-E9C8BAA025FB}"/>
              </a:ext>
            </a:extLst>
          </p:cNvPr>
          <p:cNvSpPr/>
          <p:nvPr/>
        </p:nvSpPr>
        <p:spPr>
          <a:xfrm>
            <a:off x="8056884" y="1696720"/>
            <a:ext cx="3525520" cy="17322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Bar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enure Status</a:t>
            </a:r>
          </a:p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Upto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20 (85</a:t>
            </a:r>
            <a:r>
              <a:rPr lang="en-US" dirty="0"/>
              <a:t>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A01F9-2EAA-B89B-F820-513DCA422CCB}"/>
              </a:ext>
            </a:extLst>
          </p:cNvPr>
          <p:cNvSpPr/>
          <p:nvPr/>
        </p:nvSpPr>
        <p:spPr>
          <a:xfrm>
            <a:off x="741680" y="4138613"/>
            <a:ext cx="3525520" cy="1732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Pie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Subscription Type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Premium (101)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7629A-BEFA-BCF4-87D7-16E32BFCEA74}"/>
              </a:ext>
            </a:extLst>
          </p:cNvPr>
          <p:cNvSpPr/>
          <p:nvPr/>
        </p:nvSpPr>
        <p:spPr>
          <a:xfrm>
            <a:off x="4399282" y="4138613"/>
            <a:ext cx="3525520" cy="17322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Pie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Contract Length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Monthly (92)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74DD7A-C69E-04BF-8319-E7B245E64750}"/>
              </a:ext>
            </a:extLst>
          </p:cNvPr>
          <p:cNvSpPr/>
          <p:nvPr/>
        </p:nvSpPr>
        <p:spPr>
          <a:xfrm>
            <a:off x="8056884" y="4138613"/>
            <a:ext cx="3525520" cy="1732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Donut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Payment Delay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10-20 (132)</a:t>
            </a:r>
          </a:p>
        </p:txBody>
      </p:sp>
    </p:spTree>
    <p:extLst>
      <p:ext uri="{BB962C8B-B14F-4D97-AF65-F5344CB8AC3E}">
        <p14:creationId xmlns:p14="http://schemas.microsoft.com/office/powerpoint/2010/main" val="289849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5E07F0-6BAB-984B-1E1B-D25723BFB8CC}"/>
              </a:ext>
            </a:extLst>
          </p:cNvPr>
          <p:cNvSpPr/>
          <p:nvPr/>
        </p:nvSpPr>
        <p:spPr>
          <a:xfrm>
            <a:off x="1107440" y="1361440"/>
            <a:ext cx="3749040" cy="187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Bar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Total Spending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600-900 (101)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197E7-440A-F478-F1AA-67B2E20515F2}"/>
              </a:ext>
            </a:extLst>
          </p:cNvPr>
          <p:cNvSpPr/>
          <p:nvPr/>
        </p:nvSpPr>
        <p:spPr>
          <a:xfrm>
            <a:off x="5318762" y="1361440"/>
            <a:ext cx="3749040" cy="1879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Line Chart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Churn By Subscription Calls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5 calls (132)</a:t>
            </a:r>
          </a:p>
        </p:txBody>
      </p:sp>
    </p:spTree>
    <p:extLst>
      <p:ext uri="{BB962C8B-B14F-4D97-AF65-F5344CB8AC3E}">
        <p14:creationId xmlns:p14="http://schemas.microsoft.com/office/powerpoint/2010/main" val="101543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3C4B80-6F64-DEBE-1525-73AACA0E0183}"/>
              </a:ext>
            </a:extLst>
          </p:cNvPr>
          <p:cNvSpPr/>
          <p:nvPr/>
        </p:nvSpPr>
        <p:spPr>
          <a:xfrm>
            <a:off x="360680" y="251460"/>
            <a:ext cx="1778000" cy="108966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DD0000"/>
                </a:solidFill>
              </a:rPr>
              <a:t>500</a:t>
            </a:r>
          </a:p>
          <a:p>
            <a:pPr algn="ctr"/>
            <a:r>
              <a:rPr lang="en-US" sz="1400" dirty="0">
                <a:solidFill>
                  <a:srgbClr val="DD0000"/>
                </a:solidFill>
              </a:rPr>
              <a:t>Total</a:t>
            </a:r>
            <a:r>
              <a:rPr lang="en-US" sz="1400" baseline="0" dirty="0">
                <a:solidFill>
                  <a:srgbClr val="DD0000"/>
                </a:solidFill>
              </a:rPr>
              <a:t> Customers</a:t>
            </a:r>
            <a:endParaRPr lang="en-US" sz="1400" dirty="0">
              <a:solidFill>
                <a:srgbClr val="DD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DF4676-0138-9FDC-C386-5AB597A8C384}"/>
              </a:ext>
            </a:extLst>
          </p:cNvPr>
          <p:cNvSpPr/>
          <p:nvPr/>
        </p:nvSpPr>
        <p:spPr>
          <a:xfrm>
            <a:off x="443548" y="1764664"/>
            <a:ext cx="1739900" cy="108965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DD0000"/>
                </a:solidFill>
              </a:rPr>
              <a:t>255</a:t>
            </a:r>
          </a:p>
          <a:p>
            <a:pPr algn="ctr"/>
            <a:r>
              <a:rPr lang="en-US" sz="1400" dirty="0">
                <a:solidFill>
                  <a:srgbClr val="DD0000"/>
                </a:solidFill>
              </a:rPr>
              <a:t>Total</a:t>
            </a:r>
            <a:r>
              <a:rPr lang="en-US" sz="1400" baseline="0" dirty="0">
                <a:solidFill>
                  <a:srgbClr val="DD0000"/>
                </a:solidFill>
              </a:rPr>
              <a:t> Churned</a:t>
            </a:r>
            <a:endParaRPr lang="en-US" sz="1400" dirty="0">
              <a:solidFill>
                <a:srgbClr val="DD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0615CD7-3EF7-4444-B0E7-52894E00DB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8122404"/>
              </p:ext>
            </p:extLst>
          </p:nvPr>
        </p:nvGraphicFramePr>
        <p:xfrm>
          <a:off x="373380" y="3271520"/>
          <a:ext cx="1790700" cy="2456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740D11E-14F4-42A2-8E76-6A40AC244F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4546321"/>
              </p:ext>
            </p:extLst>
          </p:nvPr>
        </p:nvGraphicFramePr>
        <p:xfrm>
          <a:off x="2480310" y="165100"/>
          <a:ext cx="25781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7DBA040-E863-4339-B745-E73D512C59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298238"/>
              </p:ext>
            </p:extLst>
          </p:nvPr>
        </p:nvGraphicFramePr>
        <p:xfrm>
          <a:off x="2732405" y="2082800"/>
          <a:ext cx="2051050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D0ED525-622E-4372-B02E-DFB5806754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479277"/>
              </p:ext>
            </p:extLst>
          </p:nvPr>
        </p:nvGraphicFramePr>
        <p:xfrm>
          <a:off x="5400040" y="165100"/>
          <a:ext cx="2603500" cy="144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72A0A19-3653-426E-A940-8DC6E63EA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925245"/>
              </p:ext>
            </p:extLst>
          </p:nvPr>
        </p:nvGraphicFramePr>
        <p:xfrm>
          <a:off x="5516880" y="2082800"/>
          <a:ext cx="20828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A89C5BD-92F0-4716-9337-41C72E411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5822051"/>
              </p:ext>
            </p:extLst>
          </p:nvPr>
        </p:nvGraphicFramePr>
        <p:xfrm>
          <a:off x="8119745" y="81280"/>
          <a:ext cx="2292350" cy="168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988AF36-5FE2-4640-AA9C-87D235B18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2533018"/>
              </p:ext>
            </p:extLst>
          </p:nvPr>
        </p:nvGraphicFramePr>
        <p:xfrm>
          <a:off x="7905115" y="2082800"/>
          <a:ext cx="2254250" cy="195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E4716C3-3D76-41C9-B2D3-185EFD81BA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7802443"/>
              </p:ext>
            </p:extLst>
          </p:nvPr>
        </p:nvGraphicFramePr>
        <p:xfrm>
          <a:off x="2757805" y="3865882"/>
          <a:ext cx="2165350" cy="172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D9C0631-71DD-4168-997E-4DB96DA0EF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836850"/>
              </p:ext>
            </p:extLst>
          </p:nvPr>
        </p:nvGraphicFramePr>
        <p:xfrm>
          <a:off x="5467985" y="3865882"/>
          <a:ext cx="2216150" cy="196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5A2372B-5603-4C97-AF14-18DF26605B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879775"/>
              </p:ext>
            </p:extLst>
          </p:nvPr>
        </p:nvGraphicFramePr>
        <p:xfrm>
          <a:off x="7905115" y="3865882"/>
          <a:ext cx="2651125" cy="186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27492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941D-AD6A-0EF3-67D0-C3302D7B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Insights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440B9E-81FB-4D5F-B49D-814DEADAC2DB}"/>
              </a:ext>
            </a:extLst>
          </p:cNvPr>
          <p:cNvSpPr/>
          <p:nvPr/>
        </p:nvSpPr>
        <p:spPr>
          <a:xfrm>
            <a:off x="646111" y="1503680"/>
            <a:ext cx="2733040" cy="16560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Adult Age Groups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Adulthood than young and elderly ones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483B5-7F54-A4F9-6422-FD3EC262BA47}"/>
              </a:ext>
            </a:extLst>
          </p:cNvPr>
          <p:cNvSpPr/>
          <p:nvPr/>
        </p:nvSpPr>
        <p:spPr>
          <a:xfrm>
            <a:off x="3637278" y="1503680"/>
            <a:ext cx="2733040" cy="1656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Mid Usage Frequency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Using services 10 to 20 times a year than low and high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67735-E90A-4189-5608-ECAB76F38DC9}"/>
              </a:ext>
            </a:extLst>
          </p:cNvPr>
          <p:cNvSpPr/>
          <p:nvPr/>
        </p:nvSpPr>
        <p:spPr>
          <a:xfrm>
            <a:off x="6624320" y="1503680"/>
            <a:ext cx="2539999" cy="1656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Short Term Tenure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Short term services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A5542-AD27-C0B1-FBAC-BD5BEBCD2DA9}"/>
              </a:ext>
            </a:extLst>
          </p:cNvPr>
          <p:cNvSpPr/>
          <p:nvPr/>
        </p:nvSpPr>
        <p:spPr>
          <a:xfrm>
            <a:off x="646112" y="4013200"/>
            <a:ext cx="2755424" cy="172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Subscription charge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 paying low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1B405-4C55-3F2D-B170-C689CD316A91}"/>
              </a:ext>
            </a:extLst>
          </p:cNvPr>
          <p:cNvSpPr/>
          <p:nvPr/>
        </p:nvSpPr>
        <p:spPr>
          <a:xfrm>
            <a:off x="3653552" y="4013200"/>
            <a:ext cx="2718752" cy="16865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Short term contracts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 mid to long term contracts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25A84-47D9-36CC-A779-FE608128AE89}"/>
              </a:ext>
            </a:extLst>
          </p:cNvPr>
          <p:cNvSpPr/>
          <p:nvPr/>
        </p:nvSpPr>
        <p:spPr>
          <a:xfrm>
            <a:off x="6624321" y="4013200"/>
            <a:ext cx="2539999" cy="1686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Payment Capacity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Unable to pay within 20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0AF17-49BB-8ADE-431F-DEC8711822EC}"/>
              </a:ext>
            </a:extLst>
          </p:cNvPr>
          <p:cNvSpPr/>
          <p:nvPr/>
        </p:nvSpPr>
        <p:spPr>
          <a:xfrm>
            <a:off x="9418321" y="1503680"/>
            <a:ext cx="2539999" cy="1656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Spending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 low spending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2D6E8B-C4F3-C646-CA55-4D7641DE92E2}"/>
              </a:ext>
            </a:extLst>
          </p:cNvPr>
          <p:cNvSpPr/>
          <p:nvPr/>
        </p:nvSpPr>
        <p:spPr>
          <a:xfrm>
            <a:off x="9418321" y="4043680"/>
            <a:ext cx="2539999" cy="165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Support Calls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More than 5</a:t>
            </a:r>
          </a:p>
        </p:txBody>
      </p:sp>
    </p:spTree>
    <p:extLst>
      <p:ext uri="{BB962C8B-B14F-4D97-AF65-F5344CB8AC3E}">
        <p14:creationId xmlns:p14="http://schemas.microsoft.com/office/powerpoint/2010/main" val="1784116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8961-22DE-61AD-B64E-BB804E49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335280"/>
            <a:ext cx="8825659" cy="1148080"/>
          </a:xfrm>
        </p:spPr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231B1-8CF4-152E-32AC-3A9AE1AD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087120"/>
            <a:ext cx="8825659" cy="49326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Discount facility should be provided to adult customers as they have high bargaining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Quality services should be standardized.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Rate of Fine should be increased as per the days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Reduce support calls as much as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Marketing to push for long term contracts in campaigns.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97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6DDF-3652-4776-9D95-33110E92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47040"/>
            <a:ext cx="8825659" cy="1330960"/>
          </a:xfrm>
        </p:spPr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925E9-71C9-D2AC-5DB2-9781640EB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564640"/>
            <a:ext cx="8825659" cy="4455160"/>
          </a:xfrm>
        </p:spPr>
        <p:txBody>
          <a:bodyPr/>
          <a:lstStyle/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According to analysis, customers with age group 40-49 and short-term services and contracts should be targeted to increase customer retention and ensure long term relationship with customers.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631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283</TotalTime>
  <Words>828</Words>
  <Application>Microsoft Office PowerPoint</Application>
  <PresentationFormat>Widescreen</PresentationFormat>
  <Paragraphs>245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Consolas</vt:lpstr>
      <vt:lpstr>Wingdings 3</vt:lpstr>
      <vt:lpstr>Ion Boardroom</vt:lpstr>
      <vt:lpstr>PowerPoint Presentation</vt:lpstr>
      <vt:lpstr>Project Overview</vt:lpstr>
      <vt:lpstr>Step 1 Data Generation</vt:lpstr>
      <vt:lpstr>Step 2 Injecting Dirty Data</vt:lpstr>
      <vt:lpstr>   Step 3 Data cleaning     #Loading Data</vt:lpstr>
      <vt:lpstr> Data Types </vt:lpstr>
      <vt:lpstr>Step 4: Dashboard</vt:lpstr>
      <vt:lpstr>Charts used </vt:lpstr>
      <vt:lpstr>PowerPoint Presentation</vt:lpstr>
      <vt:lpstr>PowerPoint Presentation</vt:lpstr>
      <vt:lpstr>Key Insights 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WIN</cp:lastModifiedBy>
  <cp:revision>38</cp:revision>
  <dcterms:created xsi:type="dcterms:W3CDTF">2026-07-23T09:27:24Z</dcterms:created>
  <dcterms:modified xsi:type="dcterms:W3CDTF">2026-07-27T06:34:57Z</dcterms:modified>
</cp:coreProperties>
</file>